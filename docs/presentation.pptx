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9" r:id="rId9"/>
    <p:sldId id="263" r:id="rId10"/>
    <p:sldId id="262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AAD98432-BD1C-4C82-A74A-468CDC128221}">
          <p14:sldIdLst>
            <p14:sldId id="256"/>
            <p14:sldId id="257"/>
            <p14:sldId id="258"/>
            <p14:sldId id="259"/>
            <p14:sldId id="260"/>
            <p14:sldId id="270"/>
            <p14:sldId id="261"/>
            <p14:sldId id="269"/>
            <p14:sldId id="263"/>
            <p14:sldId id="262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69302-1092-43F1-AD33-56966B236632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795A1-7135-4E2C-9BD4-6C472AC70E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900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7C43A-5213-0E4F-0E36-CD8FE25B0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E3AA377-1DFB-CE71-ABAF-C430E76ECF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DE211D-F52E-77FB-C949-29E71A924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C610A-50D4-4F66-812A-C437D1924BDC}" type="datetime1">
              <a:rPr lang="ru-RU" smtClean="0"/>
              <a:t>06.02.2026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624B22-BD32-B0EA-533A-0F331F150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1A9C0D-7DAE-45F3-8894-C77D4D9E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1321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8DF02F-7D5F-7B26-AAB7-A2CEB9586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FB2420-85AF-2BAB-11B8-B1A3C239A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B657D7-8A17-84BC-BD1F-CC8F710BF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461D5-04C4-457B-9DEA-C4DCDB99A3A2}" type="datetime1">
              <a:rPr lang="ru-RU" smtClean="0"/>
              <a:t>06.02.2026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E767BE-CCA2-E318-5FF1-071504013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A234D8-426B-9B94-1D43-D2D563EF3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4646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D2AD39-0FA5-F3B9-128C-65798C635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2D1866-FBB0-8157-8116-C403DE35F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611595-DA5B-C000-65C0-09CFA0B03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F9AB4-4D73-4A1D-A2D4-F6217E398539}" type="datetime1">
              <a:rPr lang="ru-RU" smtClean="0"/>
              <a:t>06.02.2026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334678-AAB4-6193-26C7-FF4914094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0898E9-4234-B176-7475-DFDE5B5FD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846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7E5CB0-FD62-D095-E401-11DB75664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68D9B8-99D2-FAFC-68F8-4ED7C41AC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1510B4B-317D-5069-8AF8-98F8B3DA42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805154-782B-BE13-092F-23DECE0F7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339A7-0AFD-4A33-B8BD-0608756B7FED}" type="datetime1">
              <a:rPr lang="ru-RU" smtClean="0"/>
              <a:t>06.02.2026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93373B-765D-B716-54AF-8998E22FF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12341C-F3D4-0604-5391-24D2AA6D0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0012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983177-093C-D317-80BC-E02A37759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E7FC8E-5CCC-BD9C-0C23-2937E1CD2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EAC7ED5-1AD8-D354-9CAB-D3FF08562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C613766-F17D-8365-B15A-2107D395E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DBC7FDA-442E-9BB9-EE07-B94D7D4D1E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C1590CB-4645-94FD-C631-83A4D967B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DA67A-3C2F-4F44-B68B-9C57B6167FD3}" type="datetime1">
              <a:rPr lang="ru-RU" smtClean="0"/>
              <a:t>06.02.2026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6F3530B-0B02-C756-8560-DFFE05B3F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8E568D0-935B-AECE-F4BC-CB157FCB9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879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48D63E-A83F-2D96-5782-FD2344080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731B17D-E9B7-3461-EBA7-712D9F797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E0432-4F8C-4B6B-BD54-CD7A476FAB0C}" type="datetime1">
              <a:rPr lang="ru-RU" smtClean="0"/>
              <a:t>06.02.2026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B3A68A7-6355-5A33-9569-838E2E262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AFE081D-0304-83C4-7A72-55C401235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372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8FB3A51-B40C-5755-D043-955768511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432F5-0E58-4C36-B784-1F63A34C3FCC}" type="datetime1">
              <a:rPr lang="ru-RU" smtClean="0"/>
              <a:t>06.02.2026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CB48820-3BAE-F272-8111-91AFC59A2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4A2BAA3-A25D-BA3B-AA6B-6F4FB36A4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017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94D013-314F-1C24-394A-AACA6612C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AE697E-5F25-7DB9-1C6A-B1615ED38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B5E9A27-14C2-0168-C210-B332331A6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1EDB369-143F-5557-D8DB-C34928A66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2A4BF-B7FE-47C6-B542-68C72EF78418}" type="datetime1">
              <a:rPr lang="ru-RU" smtClean="0"/>
              <a:t>06.02.2026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F7E9B4F-4C7F-17EE-B6BD-FA085EB20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5C5F10-31AD-6024-E9C6-3946FE008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6329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811D58-83E0-D5FA-A400-C1E997E2A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CA58C32-CDB3-B189-1201-2CCEB3F023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952F92-4F84-4C96-8307-CF703F7EE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7C479A7-62B8-CF93-5FFD-98EAAE24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AE02B-1CE3-4BC8-BA2F-2CF667F89240}" type="datetime1">
              <a:rPr lang="ru-RU" smtClean="0"/>
              <a:t>06.02.2026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0070E90-8399-B755-78BE-4491F025F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9AFD73A-5771-377F-903B-554DAC4AD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1484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C9B0EE-F64B-910B-9A7D-1B921AA0C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E84C9F2-F461-B9EE-9222-C9AF7E609D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85F928-15A8-0FE0-2CF5-D4758FEB3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9756E-C99D-44C9-ADCA-B11299855DF2}" type="datetime1">
              <a:rPr lang="ru-RU" smtClean="0"/>
              <a:t>06.02.2026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12A4A0-1399-E948-85E3-FAC690CB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A55F23-4502-DDAB-3253-4CDACC723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9327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73ECCBD-0E32-CB70-769A-E0663A0D7E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FFFA83-50A7-8E26-0B91-A4F2B40D06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A4A517-1CDA-DF56-C478-65802FA7E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9757-8F7D-4102-9FDF-764CF8D22652}" type="datetime1">
              <a:rPr lang="ru-RU" smtClean="0"/>
              <a:t>06.02.2026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3EBD67-86CA-2F7F-53F3-8F65F322F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31EC2F-899A-777A-32EE-FF2F21700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2154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E037B6-1BB5-07DE-A689-A6D52290A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4E1E91-412C-9CC0-4502-694296FEF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EB2990-8E53-E8C5-CC09-2B5FAA1972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8806A6-7CFD-4A5F-BBA5-2792B37E1C1D}" type="datetime1">
              <a:rPr lang="ru-RU" smtClean="0"/>
              <a:t>06.02.2026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8AB609-0479-4203-FA22-F7C8A4DBC3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3BD167-F34F-29D1-84F8-DD6CD3F8FC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A9D74F-141D-41EE-901B-47FF1BB5C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27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3CA0A4-F839-9838-373A-225EE34BC8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Конструктор из </a:t>
            </a:r>
            <a:r>
              <a:rPr lang="ru-RU" dirty="0"/>
              <a:t>геометрических примитивов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E5B451-DD71-166A-10BE-D774B6D89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34121"/>
            <a:ext cx="9144000" cy="1401516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Группа: ИУ7-53Б</a:t>
            </a:r>
          </a:p>
          <a:p>
            <a:pPr algn="l"/>
            <a:r>
              <a:rPr lang="ru-RU" dirty="0"/>
              <a:t>Студент: Семенчук М. А.</a:t>
            </a:r>
          </a:p>
          <a:p>
            <a:pPr algn="l"/>
            <a:r>
              <a:rPr lang="ru-RU" dirty="0"/>
              <a:t>Руководитель: Шибанова Д. А.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A346CD-7711-2CEE-C8AF-2AE2F38FF3DB}"/>
              </a:ext>
            </a:extLst>
          </p:cNvPr>
          <p:cNvSpPr txBox="1"/>
          <p:nvPr/>
        </p:nvSpPr>
        <p:spPr>
          <a:xfrm>
            <a:off x="3048762" y="6225278"/>
            <a:ext cx="6094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1" dirty="0"/>
              <a:t>202</a:t>
            </a:r>
            <a:r>
              <a:rPr lang="ru-RU" sz="1600" i="1" dirty="0"/>
              <a:t>6 г</a:t>
            </a:r>
            <a:r>
              <a:rPr lang="en-US" sz="1600" i="1" dirty="0"/>
              <a:t>.</a:t>
            </a:r>
            <a:endParaRPr lang="ru-RU" sz="1600" i="1" dirty="0"/>
          </a:p>
        </p:txBody>
      </p:sp>
    </p:spTree>
    <p:extLst>
      <p:ext uri="{BB962C8B-B14F-4D97-AF65-F5344CB8AC3E}">
        <p14:creationId xmlns:p14="http://schemas.microsoft.com/office/powerpoint/2010/main" val="314980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3D99C6-4FD8-CFAE-7548-36FB71978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64B6F1-4983-0E6B-F6AC-6338124975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Цель </a:t>
            </a:r>
            <a:r>
              <a:rPr lang="ru-RU" dirty="0"/>
              <a:t>- разработка ПО для визуализации трехмерных сцен, состоящих из геометрических примитивов.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28362C87-6237-E720-6A8A-219BDF1CB02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Задачи</a:t>
            </a:r>
            <a:r>
              <a:rPr lang="ru-RU" dirty="0"/>
              <a:t>: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проанализировать алгоритмы генерации изображения, модели освещения и затенения</a:t>
            </a:r>
            <a:r>
              <a:rPr lang="en-US" dirty="0"/>
              <a:t>;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спроектировать ПО на основе выбранных алгоритмов</a:t>
            </a:r>
            <a:r>
              <a:rPr lang="en-US" dirty="0"/>
              <a:t>;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разработать программную реализацию</a:t>
            </a:r>
            <a:r>
              <a:rPr lang="en-US" dirty="0"/>
              <a:t>;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исследовать характеристики разработанного ПО</a:t>
            </a:r>
            <a:r>
              <a:rPr lang="en-US" dirty="0"/>
              <a:t>.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AA6250-373F-8CC7-DDE6-C177830FA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5444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7CCE18-DCFA-8B61-6BD0-D689538BD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Трассировка лучей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31042A89-E286-B084-F8E1-81F43EAC8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Трассировка лучей - метод рендеринга, который позволяет реалистично имитировать освещение среды за счет использования физически корректной модели поведения света.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Распространяясь по сцене и взаимодействую с ее объектами, свет может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рассеиваться</a:t>
            </a:r>
            <a:r>
              <a:rPr lang="en-US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отражаться</a:t>
            </a:r>
            <a:r>
              <a:rPr lang="en-US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преломляться</a:t>
            </a:r>
            <a:r>
              <a:rPr lang="en-US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поглощаться.</a:t>
            </a:r>
            <a:endParaRPr lang="en-US" dirty="0"/>
          </a:p>
        </p:txBody>
      </p:sp>
      <p:pic>
        <p:nvPicPr>
          <p:cNvPr id="9" name="Рисунок 8" descr="Изображение выглядит как диаграмма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7237817-ABD7-E5A8-3E6A-0897C7B27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175" y="1524314"/>
            <a:ext cx="5398225" cy="3799845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98F9E4D-445A-29AF-5F3C-27D3841E7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4622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0480D1-E591-E504-4C5C-B6B5BE073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Модели освещения</a:t>
            </a:r>
          </a:p>
        </p:txBody>
      </p:sp>
      <p:pic>
        <p:nvPicPr>
          <p:cNvPr id="21" name="Рисунок 20" descr="Изображение выглядит как зарисовка, рисунок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6A80309-46B4-1E6C-B648-71B981AAD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58141"/>
            <a:ext cx="4200144" cy="313435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39CAB9E-5D00-3876-4087-D2FF068EBB7E}"/>
              </a:ext>
            </a:extLst>
          </p:cNvPr>
          <p:cNvSpPr txBox="1"/>
          <p:nvPr/>
        </p:nvSpPr>
        <p:spPr>
          <a:xfrm>
            <a:off x="1112291" y="1928364"/>
            <a:ext cx="3651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Диффузное отражение (Ламберт)</a:t>
            </a:r>
          </a:p>
        </p:txBody>
      </p:sp>
      <p:pic>
        <p:nvPicPr>
          <p:cNvPr id="24" name="Рисунок 23" descr="Изображение выглядит как черный, темнота, Астрономический объект, лунный све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DB819CF-A385-98FE-2E13-C7D476E683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215170"/>
            <a:ext cx="2381250" cy="1628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5253560-EA38-0BD2-407F-DC44A1ACF162}"/>
              </a:ext>
            </a:extLst>
          </p:cNvPr>
          <p:cNvSpPr txBox="1"/>
          <p:nvPr/>
        </p:nvSpPr>
        <p:spPr>
          <a:xfrm>
            <a:off x="8719086" y="4290893"/>
            <a:ext cx="315823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 –</a:t>
            </a:r>
            <a:r>
              <a:rPr lang="ru-RU" dirty="0"/>
              <a:t> наблюдатель</a:t>
            </a:r>
          </a:p>
          <a:p>
            <a:r>
              <a:rPr lang="en-US" dirty="0"/>
              <a:t>N – </a:t>
            </a:r>
            <a:r>
              <a:rPr lang="ru-RU" dirty="0"/>
              <a:t>нормаль</a:t>
            </a:r>
            <a:endParaRPr lang="en-US" dirty="0"/>
          </a:p>
          <a:p>
            <a:r>
              <a:rPr lang="en-US" dirty="0"/>
              <a:t>L – </a:t>
            </a:r>
            <a:r>
              <a:rPr lang="ru-RU" dirty="0"/>
              <a:t>источник света</a:t>
            </a:r>
            <a:endParaRPr lang="en-US" dirty="0"/>
          </a:p>
          <a:p>
            <a:r>
              <a:rPr lang="en-US" dirty="0"/>
              <a:t>R </a:t>
            </a:r>
            <a:r>
              <a:rPr lang="ru-RU" dirty="0"/>
              <a:t>– отраженный свет</a:t>
            </a:r>
          </a:p>
          <a:p>
            <a:r>
              <a:rPr lang="en-US" dirty="0"/>
              <a:t>H</a:t>
            </a:r>
            <a:r>
              <a:rPr lang="ru-RU" dirty="0"/>
              <a:t> – полувектор</a:t>
            </a:r>
            <a:r>
              <a:rPr lang="en-US" dirty="0"/>
              <a:t> (</a:t>
            </a:r>
            <a:r>
              <a:rPr lang="ru-RU" dirty="0"/>
              <a:t>Блинн-Фонг)</a:t>
            </a:r>
          </a:p>
        </p:txBody>
      </p:sp>
      <p:pic>
        <p:nvPicPr>
          <p:cNvPr id="27" name="Рисунок 26" descr="Изображение выглядит как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174F614-680C-B99F-516D-8F0F744889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58141"/>
            <a:ext cx="5634100" cy="152120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8607D89-460D-51C4-E6F3-75BF635BE1F7}"/>
              </a:ext>
            </a:extLst>
          </p:cNvPr>
          <p:cNvSpPr txBox="1"/>
          <p:nvPr/>
        </p:nvSpPr>
        <p:spPr>
          <a:xfrm>
            <a:off x="7414883" y="1928364"/>
            <a:ext cx="2996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Компоненты модели Фонга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52E303F-6F1D-457A-0F34-AED726015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9216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136B7C-CFBD-3C7B-529D-EB18DEA08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/>
              <a:t>Формализованная постановка задача</a:t>
            </a:r>
          </a:p>
        </p:txBody>
      </p:sp>
      <p:pic>
        <p:nvPicPr>
          <p:cNvPr id="6" name="Рисунок 5" descr="Изображение выглядит как текст, диаграмма, линия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E51B868-81F5-B324-A48F-D2C5C0B73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2890520"/>
            <a:ext cx="3828288" cy="3190240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диаграмма, Технический чертеж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3F0A222-FDD5-4EEB-D71C-7FEBE4DA2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1114"/>
          <a:stretch>
            <a:fillRect/>
          </a:stretch>
        </p:blipFill>
        <p:spPr>
          <a:xfrm>
            <a:off x="7110987" y="2890520"/>
            <a:ext cx="4053838" cy="31902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185A4C-7C0C-078F-9EAE-3D9932CB4186}"/>
              </a:ext>
            </a:extLst>
          </p:cNvPr>
          <p:cNvSpPr txBox="1"/>
          <p:nvPr/>
        </p:nvSpPr>
        <p:spPr>
          <a:xfrm>
            <a:off x="1571244" y="1690688"/>
            <a:ext cx="31912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IDEF0 </a:t>
            </a:r>
            <a:r>
              <a:rPr lang="ru-RU" dirty="0"/>
              <a:t>диаграмма обобщенного алгоритма генерации изображения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B77795-A53B-59B4-DD56-3A0EC18A6C49}"/>
              </a:ext>
            </a:extLst>
          </p:cNvPr>
          <p:cNvSpPr txBox="1"/>
          <p:nvPr/>
        </p:nvSpPr>
        <p:spPr>
          <a:xfrm>
            <a:off x="7574084" y="1690688"/>
            <a:ext cx="31912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IDEF0 </a:t>
            </a:r>
            <a:r>
              <a:rPr lang="ru-RU" dirty="0"/>
              <a:t>диаграмма выбранного алгоритма генерации изображения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F27268A-92E0-7B3C-CF66-A407B2DB9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2528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B18F33-AE78-DF53-0A5D-2352B8E2A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IDEF0 </a:t>
            </a:r>
            <a:r>
              <a:rPr lang="ru-RU" dirty="0"/>
              <a:t>диаграмма трассировки лучей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6A267C5-8144-4DE0-1594-6D20E9088B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9130" y="1880763"/>
            <a:ext cx="10013740" cy="3096473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87F1DD-88B8-BBC7-E3FC-3F333B9FF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1873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E4DF18-E554-0B20-C84B-F68D3E71D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053840" cy="2816987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Схема</a:t>
            </a:r>
            <a:br>
              <a:rPr lang="ru-RU" dirty="0"/>
            </a:br>
            <a:r>
              <a:rPr lang="ru-RU" dirty="0"/>
              <a:t>алгоритма трассировки лучей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6FD65B-DFC1-1F69-CB3F-3CCF4479A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7</a:t>
            </a:fld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2E73F1E-08CC-A09C-FCB8-72B1378CB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6630" y="241316"/>
            <a:ext cx="6163122" cy="1323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625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9AB1B-8E93-7495-6FF1-A69D769CA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534049-75A6-108C-3C91-F69BD54D7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053840" cy="2816987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Схема</a:t>
            </a:r>
            <a:br>
              <a:rPr lang="ru-RU" dirty="0"/>
            </a:br>
            <a:r>
              <a:rPr lang="ru-RU" dirty="0"/>
              <a:t>алгоритма трассировки лучей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C64679-F26B-E793-B88C-FB6F44BC7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8</a:t>
            </a:fld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2EB2E9E-F248-0DF5-0069-E7D78D5EF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6630" y="-6511893"/>
            <a:ext cx="6163122" cy="1323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978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70739-AB7D-1151-62FB-E6D1A5DEF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Требования к ПО и средства реализации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5E33DA-2A5B-408C-1C7B-925B79DDE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Разрабатываемое ПО должно обладать следующим функционалом:</a:t>
            </a:r>
          </a:p>
          <a:p>
            <a:pPr lvl="1"/>
            <a:r>
              <a:rPr lang="ru-RU" dirty="0"/>
              <a:t>добавление и удаление объектов;</a:t>
            </a:r>
          </a:p>
          <a:p>
            <a:pPr lvl="1"/>
            <a:r>
              <a:rPr lang="ru-RU" dirty="0"/>
              <a:t>изменение положения, ориентации, масштаба и цвета объектов;</a:t>
            </a:r>
          </a:p>
          <a:p>
            <a:pPr lvl="1"/>
            <a:r>
              <a:rPr lang="ru-RU" dirty="0"/>
              <a:t>изменение положения и ориентации камеры;</a:t>
            </a:r>
          </a:p>
          <a:p>
            <a:pPr lvl="1"/>
            <a:r>
              <a:rPr lang="ru-RU" dirty="0"/>
              <a:t>добавление и удаление источников освещения;</a:t>
            </a:r>
          </a:p>
          <a:p>
            <a:pPr lvl="1"/>
            <a:r>
              <a:rPr lang="ru-RU" dirty="0"/>
              <a:t>изменение положения, ориентации и цвета источников освещения</a:t>
            </a:r>
            <a:r>
              <a:rPr lang="en-US" dirty="0"/>
              <a:t>.</a:t>
            </a:r>
          </a:p>
          <a:p>
            <a:pPr marL="457200" lvl="1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Средства реализации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ru-RU" dirty="0"/>
              <a:t>Язык программирования</a:t>
            </a:r>
            <a:r>
              <a:rPr lang="en-US" dirty="0"/>
              <a:t>: C++</a:t>
            </a:r>
          </a:p>
          <a:p>
            <a:pPr lvl="1"/>
            <a:r>
              <a:rPr lang="ru-RU" dirty="0"/>
              <a:t>Графическая библиотека</a:t>
            </a:r>
            <a:r>
              <a:rPr lang="en-US" dirty="0"/>
              <a:t>: SFML</a:t>
            </a:r>
          </a:p>
          <a:p>
            <a:pPr lvl="1"/>
            <a:r>
              <a:rPr lang="en-US" dirty="0"/>
              <a:t>GUI </a:t>
            </a:r>
            <a:r>
              <a:rPr lang="ru-RU" dirty="0"/>
              <a:t>библиотека</a:t>
            </a:r>
            <a:r>
              <a:rPr lang="en-US" dirty="0"/>
              <a:t>: Dear ImGui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05C54C-2674-CAF6-8EA7-E630AC9F8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748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1C59D8-FE4E-FAE7-43A0-CAA1D51C4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Диаграмма классов</a:t>
            </a:r>
          </a:p>
        </p:txBody>
      </p:sp>
      <p:pic>
        <p:nvPicPr>
          <p:cNvPr id="5" name="Рисунок 4" descr="Изображение выглядит как текст, диаграмма, План, схематич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702CBC6-D261-E85D-0B4D-6CED728E71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56"/>
          <a:stretch>
            <a:fillRect/>
          </a:stretch>
        </p:blipFill>
        <p:spPr>
          <a:xfrm>
            <a:off x="5294086" y="1847088"/>
            <a:ext cx="5989610" cy="45811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F5C6AB-242A-A447-C178-A26A3592F772}"/>
              </a:ext>
            </a:extLst>
          </p:cNvPr>
          <p:cNvSpPr txBox="1"/>
          <p:nvPr/>
        </p:nvSpPr>
        <p:spPr>
          <a:xfrm>
            <a:off x="838200" y="1847088"/>
            <a:ext cx="3934968" cy="4458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ru-RU" b="0" dirty="0">
                <a:effectLst/>
                <a:latin typeface="DinaRemasterII"/>
              </a:rPr>
              <a:t>Класс </a:t>
            </a:r>
            <a:r>
              <a:rPr lang="ru-RU" b="1" i="1" dirty="0">
                <a:effectLst/>
                <a:latin typeface="DinaRemasterII"/>
              </a:rPr>
              <a:t>Scene</a:t>
            </a:r>
            <a:r>
              <a:rPr lang="ru-RU" b="0" dirty="0">
                <a:effectLst/>
                <a:latin typeface="DinaRemasterII"/>
              </a:rPr>
              <a:t> предназначен для хранения геометрических объектов сцены и источников освещения.</a:t>
            </a:r>
            <a:endParaRPr lang="en-US" b="0" dirty="0">
              <a:effectLst/>
              <a:latin typeface="DinaRemasterII"/>
            </a:endParaRPr>
          </a:p>
          <a:p>
            <a:pPr>
              <a:lnSpc>
                <a:spcPts val="1650"/>
              </a:lnSpc>
              <a:buNone/>
            </a:pPr>
            <a:endParaRPr lang="en-US" dirty="0">
              <a:latin typeface="DinaRemasterII"/>
            </a:endParaRPr>
          </a:p>
          <a:p>
            <a:pPr>
              <a:lnSpc>
                <a:spcPts val="1650"/>
              </a:lnSpc>
              <a:buNone/>
            </a:pPr>
            <a:r>
              <a:rPr lang="ru-RU" b="0" dirty="0">
                <a:effectLst/>
                <a:latin typeface="DinaRemasterII"/>
              </a:rPr>
              <a:t>Класс </a:t>
            </a:r>
            <a:r>
              <a:rPr lang="ru-RU" b="1" i="1" dirty="0">
                <a:effectLst/>
                <a:latin typeface="DinaRemasterII"/>
              </a:rPr>
              <a:t>Camera</a:t>
            </a:r>
            <a:r>
              <a:rPr lang="ru-RU" b="0" dirty="0">
                <a:effectLst/>
                <a:latin typeface="DinaRemasterII"/>
              </a:rPr>
              <a:t> инкапсулирует логику работы камеры, включая ее положение и ориентацию.</a:t>
            </a:r>
            <a:endParaRPr lang="en-US" b="0" dirty="0">
              <a:effectLst/>
              <a:latin typeface="DinaRemasterII"/>
            </a:endParaRPr>
          </a:p>
          <a:p>
            <a:pPr>
              <a:lnSpc>
                <a:spcPts val="1650"/>
              </a:lnSpc>
              <a:buNone/>
            </a:pPr>
            <a:endParaRPr lang="en-US" b="0" dirty="0">
              <a:effectLst/>
              <a:latin typeface="DinaRemasterII"/>
            </a:endParaRPr>
          </a:p>
          <a:p>
            <a:pPr>
              <a:lnSpc>
                <a:spcPts val="1650"/>
              </a:lnSpc>
              <a:buNone/>
            </a:pPr>
            <a:r>
              <a:rPr lang="ru-RU" b="0" dirty="0">
                <a:effectLst/>
                <a:latin typeface="DinaRemasterII"/>
              </a:rPr>
              <a:t>Класс </a:t>
            </a:r>
            <a:r>
              <a:rPr lang="ru-RU" b="1" i="1" dirty="0">
                <a:effectLst/>
                <a:latin typeface="DinaRemasterII"/>
              </a:rPr>
              <a:t>Canvas</a:t>
            </a:r>
            <a:r>
              <a:rPr lang="ru-RU" b="0" dirty="0">
                <a:effectLst/>
                <a:latin typeface="DinaRemasterII"/>
              </a:rPr>
              <a:t> используется для сохранения сгенерированного изображения.</a:t>
            </a:r>
            <a:endParaRPr lang="en-US" b="0" dirty="0">
              <a:effectLst/>
              <a:latin typeface="DinaRemasterII"/>
            </a:endParaRPr>
          </a:p>
          <a:p>
            <a:pPr>
              <a:lnSpc>
                <a:spcPts val="1650"/>
              </a:lnSpc>
              <a:buNone/>
            </a:pPr>
            <a:endParaRPr lang="en-US" b="0" dirty="0">
              <a:effectLst/>
              <a:latin typeface="DinaRemasterII"/>
            </a:endParaRPr>
          </a:p>
          <a:p>
            <a:pPr>
              <a:lnSpc>
                <a:spcPts val="1650"/>
              </a:lnSpc>
              <a:buNone/>
            </a:pPr>
            <a:r>
              <a:rPr lang="ru-RU" b="0" dirty="0">
                <a:effectLst/>
                <a:latin typeface="DinaRemasterII"/>
              </a:rPr>
              <a:t>Класс </a:t>
            </a:r>
            <a:r>
              <a:rPr lang="ru-RU" b="1" i="1" dirty="0">
                <a:effectLst/>
                <a:latin typeface="DinaRemasterII"/>
              </a:rPr>
              <a:t>Renderer</a:t>
            </a:r>
            <a:r>
              <a:rPr lang="ru-RU" b="0" dirty="0">
                <a:effectLst/>
                <a:latin typeface="DinaRemasterII"/>
              </a:rPr>
              <a:t> осуществляет формирование изображения сцены (Scene) с позиции камеры (Camera) и записывает результат в выходной буфер (Canvas). Этот класс выполняет роль централь</a:t>
            </a:r>
            <a:r>
              <a:rPr lang="ru-RU" dirty="0">
                <a:latin typeface="DinaRemasterII"/>
              </a:rPr>
              <a:t>н</a:t>
            </a:r>
            <a:r>
              <a:rPr lang="ru-RU" b="0" dirty="0">
                <a:effectLst/>
                <a:latin typeface="DinaRemasterII"/>
              </a:rPr>
              <a:t>ого модуля, обеспечивая взаимодействии всех остальных компонентов системы.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43E6EA-538A-5F39-9A44-746591DA2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036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750AFD-AC3A-5359-A6ED-C6065DF0A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Интерфейс и пример работы ПО</a:t>
            </a:r>
          </a:p>
        </p:txBody>
      </p:sp>
      <p:pic>
        <p:nvPicPr>
          <p:cNvPr id="5" name="Объект 4" descr="Изображение выглядит как снимок экрана, Мультимедийное программное обеспечение, программное обеспечение, Графическ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9E45D08-F447-1A64-2824-A33CFED375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148" y="1743523"/>
            <a:ext cx="8483703" cy="4559991"/>
          </a:xfr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E113F0-DA3A-F3EE-BB49-839A7AE16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8845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F6AF23-7BDE-9F39-1517-528D6F2B4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Исследование времени генерации кадра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6EC4F-6149-2F67-47E4-336B22342EFB}"/>
              </a:ext>
            </a:extLst>
          </p:cNvPr>
          <p:cNvSpPr txBox="1"/>
          <p:nvPr/>
        </p:nvSpPr>
        <p:spPr>
          <a:xfrm>
            <a:off x="6530340" y="1690688"/>
            <a:ext cx="4273296" cy="2496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ru-RU" b="0" dirty="0">
                <a:effectLst/>
                <a:latin typeface="DinaRemasterII"/>
              </a:rPr>
              <a:t>Для исследования времени генерации кадра были выбраны следующие варианты числа потоков:</a:t>
            </a: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DinaRemasterII"/>
              </a:rPr>
              <a:t>Однопоточный режим (1);</a:t>
            </a: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DinaRemasterII"/>
              </a:rPr>
              <a:t>Количество потоков, равное числу физических ядер процессора (6);</a:t>
            </a: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DinaRemasterII"/>
              </a:rPr>
              <a:t>Количество потоков, равное числу логических ядер процессора (12);</a:t>
            </a: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DinaRemasterII"/>
              </a:rPr>
              <a:t>Вдвое большее количество потоков по сравнению с числом логических ядер процессора (24).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9C5682-384D-87BF-96F8-016DD86564A9}"/>
              </a:ext>
            </a:extLst>
          </p:cNvPr>
          <p:cNvSpPr txBox="1"/>
          <p:nvPr/>
        </p:nvSpPr>
        <p:spPr>
          <a:xfrm>
            <a:off x="838200" y="1690688"/>
            <a:ext cx="5141976" cy="402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ru-RU" b="1" dirty="0">
                <a:effectLst/>
                <a:latin typeface="DinaRemasterII"/>
              </a:rPr>
              <a:t>Элементы тестовой сцены:</a:t>
            </a: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DinaRemasterII"/>
              </a:rPr>
              <a:t>Корнеллской коробки;</a:t>
            </a: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DinaRemasterII"/>
              </a:rPr>
              <a:t>чайника Юта;</a:t>
            </a: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DinaRemasterII"/>
              </a:rPr>
              <a:t>точечного источника освещения.</a:t>
            </a:r>
            <a:endParaRPr lang="en-US" b="0" dirty="0">
              <a:effectLst/>
              <a:latin typeface="DinaRemasterII"/>
            </a:endParaRPr>
          </a:p>
          <a:p>
            <a:pPr>
              <a:lnSpc>
                <a:spcPts val="1650"/>
              </a:lnSpc>
            </a:pPr>
            <a:endParaRPr lang="en-US" b="0" dirty="0">
              <a:effectLst/>
              <a:latin typeface="DinaRemasterII"/>
            </a:endParaRPr>
          </a:p>
          <a:p>
            <a:pPr>
              <a:lnSpc>
                <a:spcPts val="1650"/>
              </a:lnSpc>
              <a:buNone/>
            </a:pPr>
            <a:r>
              <a:rPr lang="ru-RU" b="1" dirty="0">
                <a:effectLst/>
                <a:latin typeface="DinaRemasterII"/>
              </a:rPr>
              <a:t>Параметра генерации кадра:</a:t>
            </a: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DinaRemasterII"/>
              </a:rPr>
              <a:t>разрешение кадра 1280</a:t>
            </a:r>
            <a:r>
              <a:rPr lang="en-US" b="0" dirty="0">
                <a:effectLst/>
                <a:latin typeface="DinaRemasterII"/>
              </a:rPr>
              <a:t>x720 </a:t>
            </a:r>
            <a:r>
              <a:rPr lang="ru-RU" b="0" dirty="0">
                <a:effectLst/>
                <a:latin typeface="DinaRemasterII"/>
              </a:rPr>
              <a:t>пикселей;</a:t>
            </a: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DinaRemasterII"/>
              </a:rPr>
              <a:t>максимальное число переотражений луча = 2.</a:t>
            </a:r>
            <a:br>
              <a:rPr lang="en-US" b="0" dirty="0">
                <a:effectLst/>
                <a:latin typeface="DinaRemasterII"/>
              </a:rPr>
            </a:br>
            <a:endParaRPr lang="en-US" b="0" dirty="0">
              <a:effectLst/>
              <a:latin typeface="DinaRemasterII"/>
            </a:endParaRPr>
          </a:p>
          <a:p>
            <a:pPr>
              <a:lnSpc>
                <a:spcPts val="1650"/>
              </a:lnSpc>
              <a:buNone/>
            </a:pPr>
            <a:r>
              <a:rPr lang="ru-RU" b="1" dirty="0">
                <a:effectLst/>
                <a:latin typeface="DinaRemasterII"/>
              </a:rPr>
              <a:t>Параметры системы,</a:t>
            </a:r>
            <a:endParaRPr lang="en-US" b="1" dirty="0">
              <a:effectLst/>
              <a:latin typeface="DinaRemasterII"/>
            </a:endParaRPr>
          </a:p>
          <a:p>
            <a:pPr>
              <a:lnSpc>
                <a:spcPts val="1650"/>
              </a:lnSpc>
              <a:buNone/>
            </a:pPr>
            <a:r>
              <a:rPr lang="ru-RU" b="0" dirty="0">
                <a:effectLst/>
                <a:latin typeface="DinaRemasterII"/>
              </a:rPr>
              <a:t>на которой будут проводиться замеры времени:</a:t>
            </a:r>
            <a:endParaRPr lang="en-US" b="0" dirty="0">
              <a:effectLst/>
              <a:latin typeface="DinaRemasterII"/>
            </a:endParaRP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DinaRemasterII"/>
              </a:rPr>
              <a:t>ЦП</a:t>
            </a:r>
            <a:r>
              <a:rPr lang="en-US" b="0" dirty="0">
                <a:effectLst/>
                <a:latin typeface="DinaRemasterII"/>
              </a:rPr>
              <a:t> - 6C/12T @ 3.7GHz;</a:t>
            </a: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DinaRemasterII"/>
              </a:rPr>
              <a:t>ОЗУ </a:t>
            </a:r>
            <a:r>
              <a:rPr lang="en-US" b="0" dirty="0">
                <a:effectLst/>
                <a:latin typeface="DinaRemasterII"/>
              </a:rPr>
              <a:t>- 32GB DDR5;</a:t>
            </a: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DinaRemasterII"/>
              </a:rPr>
              <a:t>ОС </a:t>
            </a:r>
            <a:r>
              <a:rPr lang="en-US" b="0" dirty="0">
                <a:effectLst/>
                <a:latin typeface="DinaRemasterII"/>
              </a:rPr>
              <a:t>- Windows 11.</a:t>
            </a: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endParaRPr lang="en-US" dirty="0">
              <a:latin typeface="DinaRemasterII"/>
            </a:endParaRPr>
          </a:p>
          <a:p>
            <a:pPr>
              <a:lnSpc>
                <a:spcPts val="1650"/>
              </a:lnSpc>
            </a:pPr>
            <a:r>
              <a:rPr lang="ru-RU" b="0" dirty="0">
                <a:effectLst/>
                <a:latin typeface="DinaRemasterII"/>
              </a:rPr>
              <a:t>Способ распар</a:t>
            </a:r>
            <a:r>
              <a:rPr lang="ru-RU" dirty="0">
                <a:latin typeface="DinaRemasterII"/>
              </a:rPr>
              <a:t>аллеливания – стандарт </a:t>
            </a:r>
            <a:r>
              <a:rPr lang="en-US" b="1" dirty="0">
                <a:latin typeface="DinaRemasterII"/>
              </a:rPr>
              <a:t>OpenMP</a:t>
            </a:r>
            <a:r>
              <a:rPr lang="en-US" dirty="0">
                <a:latin typeface="DinaRemasterII"/>
              </a:rPr>
              <a:t>, </a:t>
            </a:r>
            <a:r>
              <a:rPr lang="ru-RU" dirty="0">
                <a:latin typeface="DinaRemasterII"/>
              </a:rPr>
              <a:t>реализованный в языке </a:t>
            </a:r>
            <a:r>
              <a:rPr lang="en-US" dirty="0">
                <a:latin typeface="DinaRemasterII"/>
              </a:rPr>
              <a:t>C++ </a:t>
            </a:r>
            <a:r>
              <a:rPr lang="ru-RU" dirty="0">
                <a:latin typeface="DinaRemasterII"/>
              </a:rPr>
              <a:t>через директиву </a:t>
            </a:r>
            <a:r>
              <a:rPr lang="en-US" dirty="0">
                <a:latin typeface="DinaRemasterII"/>
              </a:rPr>
              <a:t>#pragma.</a:t>
            </a:r>
            <a:endParaRPr lang="en-US" b="0" dirty="0">
              <a:effectLst/>
              <a:latin typeface="DinaRemasterII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ADF2379-9CC0-AC0C-8BE3-30AB2EDF3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12</a:t>
            </a:fld>
            <a:endParaRPr lang="ru-RU"/>
          </a:p>
        </p:txBody>
      </p:sp>
      <p:pic>
        <p:nvPicPr>
          <p:cNvPr id="7" name="Рисунок 6" descr="Изображение выглядит как заварочный чайник, в помещении, кухонные принадлежности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C2087EC-1285-7071-E4A7-30A5069276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340" y="4257081"/>
            <a:ext cx="4091671" cy="22357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8EA4A3-0382-CA46-17CF-162CC26B3E6B}"/>
              </a:ext>
            </a:extLst>
          </p:cNvPr>
          <p:cNvSpPr txBox="1"/>
          <p:nvPr/>
        </p:nvSpPr>
        <p:spPr>
          <a:xfrm>
            <a:off x="6530340" y="4263212"/>
            <a:ext cx="48247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</a:t>
            </a:r>
            <a:r>
              <a:rPr lang="en-US" dirty="0">
                <a:solidFill>
                  <a:schemeClr val="bg1"/>
                </a:solidFill>
              </a:rPr>
              <a:t>0</a:t>
            </a:r>
            <a:r>
              <a:rPr lang="ru-RU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4815A5-2B22-C258-FAE6-F74DFA3C87C4}"/>
              </a:ext>
            </a:extLst>
          </p:cNvPr>
          <p:cNvSpPr txBox="1"/>
          <p:nvPr/>
        </p:nvSpPr>
        <p:spPr>
          <a:xfrm>
            <a:off x="8666988" y="4263212"/>
            <a:ext cx="48247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532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72E84E-791B-E93B-B1B0-538F7D291985}"/>
              </a:ext>
            </a:extLst>
          </p:cNvPr>
          <p:cNvSpPr txBox="1"/>
          <p:nvPr/>
        </p:nvSpPr>
        <p:spPr>
          <a:xfrm>
            <a:off x="6529009" y="5406446"/>
            <a:ext cx="48247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1166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42D88E-953A-3D66-9F6B-C12FC0954EF7}"/>
              </a:ext>
            </a:extLst>
          </p:cNvPr>
          <p:cNvSpPr txBox="1"/>
          <p:nvPr/>
        </p:nvSpPr>
        <p:spPr>
          <a:xfrm>
            <a:off x="8666988" y="5410451"/>
            <a:ext cx="48247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2148</a:t>
            </a:r>
          </a:p>
        </p:txBody>
      </p:sp>
    </p:spTree>
    <p:extLst>
      <p:ext uri="{BB962C8B-B14F-4D97-AF65-F5344CB8AC3E}">
        <p14:creationId xmlns:p14="http://schemas.microsoft.com/office/powerpoint/2010/main" val="3249876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0E79AE-26A7-0DCC-B7F0-13B40A61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Исследование времени генерации кадра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0A52CBEE-1E4E-6581-B6C0-8D2273A666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6289844"/>
              </p:ext>
            </p:extLst>
          </p:nvPr>
        </p:nvGraphicFramePr>
        <p:xfrm>
          <a:off x="838200" y="1690688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17449075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12586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3708641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7287673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223220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Число граней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 поток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 потоков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12 потоков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 потока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963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108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  <a:r>
                        <a:rPr lang="en-US" dirty="0"/>
                        <a:t>.4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2.5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2.6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224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532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53.7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15.8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8.8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9.6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1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1166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114.7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30.7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18.8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18.6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392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2148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199.8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55.8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38.6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36.1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76794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3522276-F9D8-31CD-FDDB-70EE49EB1411}"/>
              </a:ext>
            </a:extLst>
          </p:cNvPr>
          <p:cNvSpPr txBox="1"/>
          <p:nvPr/>
        </p:nvSpPr>
        <p:spPr>
          <a:xfrm>
            <a:off x="838200" y="3834922"/>
            <a:ext cx="5077968" cy="2714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</a:pPr>
            <a:r>
              <a:rPr lang="ru-RU" b="0" dirty="0">
                <a:effectLst/>
                <a:latin typeface="DinaRemasterII"/>
              </a:rPr>
              <a:t>Анализ представленных графиков позволяет сделать вывод, что прирост производительности с увеличением числа потоков носит ограниченный характер. </a:t>
            </a:r>
            <a:r>
              <a:rPr lang="ru-RU" dirty="0"/>
              <a:t>Максимальная параллельная загрузка достигается при количестве потоков, равных числу логических ядер процессора. </a:t>
            </a:r>
            <a:r>
              <a:rPr lang="ru-RU" b="0" dirty="0">
                <a:effectLst/>
                <a:latin typeface="DinaRemasterII"/>
              </a:rPr>
              <a:t>При дальнейшем увеличении числа потоков наблюдается снижение производительности, что связано с дополнительными затратами процессорного времени на переключение контекста между потоками.</a:t>
            </a:r>
          </a:p>
        </p:txBody>
      </p:sp>
      <p:pic>
        <p:nvPicPr>
          <p:cNvPr id="8" name="Рисунок 7" descr="Изображение выглядит как текст, диаграмма, линия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49B2A75-B5EA-9235-F6FB-BA7BB09B3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4" y="3834922"/>
            <a:ext cx="3346704" cy="2613180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486EBB9-BC02-E458-3C97-8A274D8D6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4205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8D9E0-FA37-373C-0C90-7AC3CA593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BDF55A-51BD-E6EE-3DBE-5825C1584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Цель работы достигнута – разработано ПО для визуализации трехмерных сцен, состоящих из геометрических примитивов.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В ходе выполнения курсовой работы были проанализированы алгоритмы генерации изображения, модели освещения и затенения, спроектировано ПО на основе выбранных алгоритмов, разработана программная реализация, а также </a:t>
            </a:r>
            <a:r>
              <a:rPr lang="ru-RU"/>
              <a:t>проведено исследование </a:t>
            </a:r>
            <a:r>
              <a:rPr lang="ru-RU" dirty="0"/>
              <a:t>характеристик разработанного ПО.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82DA18-E842-564B-6E31-416FDAAC6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55869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609</Words>
  <Application>Microsoft Macintosh PowerPoint</Application>
  <PresentationFormat>Широкоэкранный</PresentationFormat>
  <Paragraphs>123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DinaRemasterII</vt:lpstr>
      <vt:lpstr>Тема Office</vt:lpstr>
      <vt:lpstr>Конструктор из геометрических примитивов</vt:lpstr>
      <vt:lpstr>Цели и задачи</vt:lpstr>
      <vt:lpstr>Трассировка лучей</vt:lpstr>
      <vt:lpstr>Модели освещения</vt:lpstr>
      <vt:lpstr>Формализованная постановка задача</vt:lpstr>
      <vt:lpstr>IDEF0 диаграмма трассировки лучей</vt:lpstr>
      <vt:lpstr>Схема алгоритма трассировки лучей</vt:lpstr>
      <vt:lpstr>Схема алгоритма трассировки лучей</vt:lpstr>
      <vt:lpstr>Требования к ПО и средства реализации</vt:lpstr>
      <vt:lpstr>Диаграмма классов</vt:lpstr>
      <vt:lpstr>Интерфейс и пример работы ПО</vt:lpstr>
      <vt:lpstr>Исследование времени генерации кадра</vt:lpstr>
      <vt:lpstr>Исследование времени генерации кадра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Семенчук Михаил</dc:creator>
  <cp:lastModifiedBy>Mikhail</cp:lastModifiedBy>
  <cp:revision>28</cp:revision>
  <dcterms:created xsi:type="dcterms:W3CDTF">2026-01-27T18:38:00Z</dcterms:created>
  <dcterms:modified xsi:type="dcterms:W3CDTF">2026-02-06T10:01:16Z</dcterms:modified>
</cp:coreProperties>
</file>